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442269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Marine AI Expert System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92816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Muhammad Israr | Subject: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2286000" y="1955899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Introduction: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What is an Expert System?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286000" y="2529185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Problem Statement: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The Need for Marine AI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102471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System Components: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Facts, Rules &amp; User Input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675757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Engine 1: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Forward Chaining (Prediction)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249042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Engine 2: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Backward Chaining (Confirmation)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822328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Core Algorithms: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How We Search (BFS, DFS, A*)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286000" y="5395614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&amp; Future Work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003524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57681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150096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372338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869953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09750" y="5443239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Presentation Roadmap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20574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An Expert System is an AI program that simulates the judgment and behavior of a human expert in a specific domain.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6670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Our project uses this approach for </a:t>
            </a: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Marine Science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9718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To build a system that can identify marine life or diagnose ecosystem health (like coral bleaching) based on visual observations.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896225" y="3810000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Insert Image (e.g., Lionfish)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What is an Expert System?</a:t>
            </a:r>
            <a:endParaRPr/>
          </a:p>
        </p:txBody>
      </p:sp>
      <p:pic>
        <p:nvPicPr>
          <p:cNvPr id="115" name="Google Shape;115;p15" title="zhengtao-tang-V7SKRhXskv8-unsplas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6600" y="1999388"/>
            <a:ext cx="4789476" cy="370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4650"/>
            <a:ext cx="528637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14650"/>
            <a:ext cx="528637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66775" y="3209925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80047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How can we quickly and accurately identify species or diagnose conditions from a vast set of possibilities? Field experts are rare, and identification guides are slow.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629400" y="3209925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Solution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29400" y="380047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Knowledge-Based System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that captures expert logic. It provides rapid, accessible, and consistent answers by reasoning over known facts.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The Challenge in Marine Science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1638300"/>
            <a:ext cx="495061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User Input: The Facts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348662" y="327660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Insert GUI Screenshot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33909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The system starts with observations from the user. We built a GUI with </a:t>
            </a: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Tkinter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for this.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0005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The user selects checkboxes, which become the initial "Fact Base" for the AI.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6101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Examples: "Color: Blue," "Fins: Spiky," "Habitat: Coral Reef."</a:t>
            </a:r>
            <a:endParaRPr/>
          </a:p>
        </p:txBody>
      </p:sp>
      <p:pic>
        <p:nvPicPr>
          <p:cNvPr id="139" name="Google Shape;139;p17" title="main_page.png"/>
          <p:cNvPicPr preferRelativeResize="0"/>
          <p:nvPr/>
        </p:nvPicPr>
        <p:blipFill rotWithShape="1">
          <a:blip r:embed="rId5">
            <a:alphaModFix/>
          </a:blip>
          <a:srcRect b="6044" l="0" r="0" t="4277"/>
          <a:stretch/>
        </p:blipFill>
        <p:spPr>
          <a:xfrm>
            <a:off x="5594625" y="150800"/>
            <a:ext cx="6413400" cy="661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3152"/>
            <a:ext cx="3429000" cy="2718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603152"/>
            <a:ext cx="3429000" cy="2718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603152"/>
            <a:ext cx="3429000" cy="271834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795813" y="3612802"/>
            <a:ext cx="298037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Definition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66775" y="4203352"/>
            <a:ext cx="2838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Facts are the basic, undeniable truths in our system's "Working Memory."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605813" y="3612802"/>
            <a:ext cx="298037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676775" y="4203352"/>
            <a:ext cx="28384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initial_facts = ['Color: Red/White', 'Fins: Spiky']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415813" y="3612802"/>
            <a:ext cx="298037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86775" y="4203352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They are the starting points (user input) that the AI uses to begin its reasoning process.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14550" y="291747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0" y="291747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4550" y="2917477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The Building Blocks: Facts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528637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62225"/>
            <a:ext cx="52863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866775" y="285750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Concept (IF-THEN)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66775" y="344805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Rules represent the "Knowledge Base." They are the IF-THEN logic statements provided by a human expert.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66775" y="4057650"/>
            <a:ext cx="46958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IF [condition 1] AND [condition 2]... THEN [conclusion]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629400" y="285750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Code (Python)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29400" y="3448050"/>
            <a:ext cx="46958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RULES = [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29400" y="3771900"/>
            <a:ext cx="46958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('Species: Lionfish',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29400" y="4095750"/>
            <a:ext cx="46958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['Color: Red/White', 'Fins: Spiky', 'Habitat: Coral Reef'])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29400" y="4743450"/>
            <a:ext cx="46958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]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The "Brain": The Rule Base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20574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Concept: Data-Driven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25241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Starts with known facts and chains </a:t>
            </a: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forward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to a conclusion.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8289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How it Works: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19100" y="31337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31337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Start with user-input facts.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19100" y="34385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34385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Find a rule where the "IF" part is matched by the facts.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419100" y="37433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37433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"Fire" the rule, adding its "THEN" part as a </a:t>
            </a: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new fact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19100" y="40481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40481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Repeat until a final goal is found.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548562" y="38100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Insert Forward Chaining Flowchart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Prediction: Forward Chaining</a:t>
            </a:r>
            <a:endParaRPr/>
          </a:p>
        </p:txBody>
      </p:sp>
      <p:pic>
        <p:nvPicPr>
          <p:cNvPr id="192" name="Google Shape;192;p20" title="Gemini_Generated_Image_h5wi4ch5wi4ch5w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874" y="1700750"/>
            <a:ext cx="5783649" cy="41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49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20574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Concept: Goal-Driven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2524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Starts with a hypothesis (goal) and works </a:t>
            </a: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backward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to see if facts support it.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31337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How it Works: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19100" y="34385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34385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Start with a Goal (e.g., "Is it a Blue Tang?").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19100" y="37433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37433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Find a rule that </a:t>
            </a:r>
            <a:r>
              <a:rPr b="1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concludes</a:t>
            </a: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this goal.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19100" y="40481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40481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Check the "IF" parts. Are they known facts?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19100" y="43529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3529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If not, treat them as new sub-goals and repeat.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19100" y="46577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46577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If all sub-goals are proven, the hypothesis is TRUE.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486650" y="3810000"/>
            <a:ext cx="2981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Insert Backward Chaining Flowchart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Confirmation: Backward Chaining</a:t>
            </a:r>
            <a:endParaRPr/>
          </a:p>
        </p:txBody>
      </p:sp>
      <p:pic>
        <p:nvPicPr>
          <p:cNvPr id="213" name="Google Shape;213;p21" title="Gemini_Generated_Image_3nzxuj3nzxuj3nz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475" y="1807875"/>
            <a:ext cx="6133051" cy="41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3127"/>
            <a:ext cx="3429000" cy="3118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403127"/>
            <a:ext cx="3429000" cy="3118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403127"/>
            <a:ext cx="3429000" cy="311839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95813" y="3412777"/>
            <a:ext cx="298037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BFS (Breadth-First)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66775" y="4003327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Used in our </a:t>
            </a:r>
            <a:r>
              <a:rPr b="1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Forward Chaining</a:t>
            </a: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. It explores all rules at one level before going deeper, finding the most direct path.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4605813" y="3412777"/>
            <a:ext cx="298037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DFS (Depth-First)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676775" y="4003327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Used in our </a:t>
            </a:r>
            <a:r>
              <a:rPr b="1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Backward Chaining</a:t>
            </a: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. It dives deep down one path to prove a sub-goal, perfect for verifying a hypothesis.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415813" y="3412777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Heuristics (A*, Greedy)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486775" y="4403377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The next step. These would use "best-guess" logic to search the </a:t>
            </a:r>
            <a:r>
              <a:rPr b="1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most likely</a:t>
            </a:r>
            <a:r>
              <a:rPr b="0" i="0" lang="en-US" sz="13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rules first, making the system faster.</a:t>
            </a:r>
            <a:endParaRPr/>
          </a:p>
        </p:txBody>
      </p:sp>
      <p:pic>
        <p:nvPicPr>
          <p:cNvPr descr="image.png" id="228" name="Google Shape;2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27174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8825" y="271745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8825" y="271745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How the Engine *Searches* for Rules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2286000" y="2313086"/>
            <a:ext cx="8096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Achievement: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Successfully built a functional Marine AI Expert System in Python.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2286000" y="2886372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Demonstrated: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Integrated a GUI (Tkinter) with two core AI reasoning engines (FC and BC).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2286000" y="3794819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Key Learning: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Showed how search algorithms (BFS, DFS) are the </a:t>
            </a:r>
            <a:r>
              <a:rPr b="0" i="1" lang="en-US" sz="1650" u="none" cap="none" strike="noStrike">
                <a:solidFill>
                  <a:srgbClr val="00BCD4"/>
                </a:solidFill>
                <a:latin typeface="Lato"/>
                <a:ea typeface="Lato"/>
                <a:cs typeface="Lato"/>
                <a:sym typeface="Lato"/>
              </a:rPr>
              <a:t>engine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that powers rule-based AI.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2286000" y="4703266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Future Work:</a:t>
            </a:r>
            <a:r>
              <a:rPr b="0" i="0" lang="en-US" sz="165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 Expand the rule base, add a "Why?" feature (explanation), and implement heuristic searches (A*) for optimization.</a:t>
            </a:r>
            <a:endParaRPr/>
          </a:p>
        </p:txBody>
      </p:sp>
      <p:pic>
        <p:nvPicPr>
          <p:cNvPr descr="image.png" id="241" name="Google Shape;2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60711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93399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842444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50891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BCD4"/>
                </a:solidFill>
                <a:latin typeface="Poppins"/>
                <a:ea typeface="Poppins"/>
                <a:cs typeface="Poppins"/>
                <a:sym typeface="Poppins"/>
              </a:rPr>
              <a:t>Conclusion &amp; Future 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295275" y="2442269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392816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/>
          <p:nvPr/>
        </p:nvSpPr>
        <p:spPr>
          <a:xfrm>
            <a:off x="5619750" y="2591692"/>
            <a:ext cx="952500" cy="47625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295275" y="2925067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571500" y="412521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E0F2F7"/>
                </a:solidFill>
                <a:latin typeface="Lato"/>
                <a:ea typeface="Lato"/>
                <a:cs typeface="Lato"/>
                <a:sym typeface="Lato"/>
              </a:rPr>
              <a:t>Muhammad Israr | Subject: 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